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286000"/>
            <a:ext cx="12192000" cy="2011680"/>
          </a:xfrm>
          <a:prstGeom prst="rect">
            <a:avLst/>
          </a:prstGeom>
          <a:solidFill>
            <a:srgbClr val="6C63FF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0" y="960120"/>
            <a:ext cx="1219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Kealvi</a:t>
            </a:r>
            <a:endParaRPr lang="en-US" sz="6800" dirty="0"/>
          </a:p>
        </p:txBody>
      </p:sp>
      <p:sp>
        <p:nvSpPr>
          <p:cNvPr id="4" name="Text 2"/>
          <p:cNvSpPr/>
          <p:nvPr/>
        </p:nvSpPr>
        <p:spPr>
          <a:xfrm>
            <a:off x="0" y="1828800"/>
            <a:ext cx="1219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Q&amp;A &amp; Polls Platform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0" y="2331720"/>
            <a:ext cx="12192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intelligent, real-time audience engagement system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Next.js 16, Supabase &amp; Gemini AI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0" y="3337560"/>
            <a:ext cx="1219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KaviPriya Selvakumar  •  September 2026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274320"/>
            <a:ext cx="164592" cy="164592"/>
          </a:xfrm>
          <a:prstGeom prst="ellipse">
            <a:avLst/>
          </a:prstGeom>
          <a:solidFill>
            <a:srgbClr val="6C63FF">
              <a:alpha val="6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2651760" y="274320"/>
            <a:ext cx="164592" cy="164592"/>
          </a:xfrm>
          <a:prstGeom prst="ellipse">
            <a:avLst/>
          </a:prstGeom>
          <a:solidFill>
            <a:srgbClr val="6C63FF">
              <a:alpha val="6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4937760" y="274320"/>
            <a:ext cx="164592" cy="164592"/>
          </a:xfrm>
          <a:prstGeom prst="ellipse">
            <a:avLst/>
          </a:prstGeom>
          <a:solidFill>
            <a:srgbClr val="6C63FF">
              <a:alpha val="6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7223760" y="274320"/>
            <a:ext cx="164592" cy="164592"/>
          </a:xfrm>
          <a:prstGeom prst="ellipse">
            <a:avLst/>
          </a:prstGeom>
          <a:solidFill>
            <a:srgbClr val="6C63FF">
              <a:alpha val="6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9509760" y="274320"/>
            <a:ext cx="164592" cy="164592"/>
          </a:xfrm>
          <a:prstGeom prst="ellipse">
            <a:avLst/>
          </a:prstGeom>
          <a:solidFill>
            <a:srgbClr val="6C63FF">
              <a:alpha val="60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6377940"/>
            <a:ext cx="1219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Kealvi — Live Q&amp;A &amp; Polls Platform   |   2 / 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320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Problem Statement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20040" y="10515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conference &amp; classroom Q&amp;A is broken: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1508760"/>
            <a:ext cx="3657600" cy="1600200"/>
          </a:xfrm>
          <a:prstGeom prst="roundRect">
            <a:avLst>
              <a:gd name="adj" fmla="val 6857"/>
            </a:avLst>
          </a:prstGeom>
          <a:solidFill>
            <a:srgbClr val="1E293B"/>
          </a:solidFill>
          <a:ln w="19050">
            <a:solidFill>
              <a:srgbClr val="6C63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5544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🙋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29768" y="1892808"/>
            <a:ext cx="34381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structure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29768" y="2167128"/>
            <a:ext cx="343814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 shouts questions randomly; important ones get lost in the noise.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06240" y="1508760"/>
            <a:ext cx="3657600" cy="1600200"/>
          </a:xfrm>
          <a:prstGeom prst="roundRect">
            <a:avLst>
              <a:gd name="adj" fmla="val 6857"/>
            </a:avLst>
          </a:prstGeom>
          <a:solidFill>
            <a:srgbClr val="1E293B"/>
          </a:solidFill>
          <a:ln w="19050">
            <a:solidFill>
              <a:srgbClr val="6C63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06240" y="15544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📊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315968" y="1892808"/>
            <a:ext cx="34381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polling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315968" y="2167128"/>
            <a:ext cx="343814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Speakers cannot instantly gauge audience opinion or knowledge level.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92440" y="1508760"/>
            <a:ext cx="3657600" cy="1600200"/>
          </a:xfrm>
          <a:prstGeom prst="roundRect">
            <a:avLst>
              <a:gd name="adj" fmla="val 6857"/>
            </a:avLst>
          </a:prstGeom>
          <a:solidFill>
            <a:srgbClr val="1E293B"/>
          </a:solidFill>
          <a:ln w="19050">
            <a:solidFill>
              <a:srgbClr val="6C63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92440" y="15544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🔇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202168" y="1892808"/>
            <a:ext cx="34381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 participation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02168" y="2167128"/>
            <a:ext cx="343814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Shy attendees never speak up; engagement is limited to a vocal minority.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0040" y="3200400"/>
            <a:ext cx="3657600" cy="1600200"/>
          </a:xfrm>
          <a:prstGeom prst="roundRect">
            <a:avLst>
              <a:gd name="adj" fmla="val 6857"/>
            </a:avLst>
          </a:prstGeom>
          <a:solidFill>
            <a:srgbClr val="1E293B"/>
          </a:solidFill>
          <a:ln w="19050">
            <a:solidFill>
              <a:srgbClr val="6C63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32461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📉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29768" y="3584448"/>
            <a:ext cx="34381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analytics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29768" y="3858768"/>
            <a:ext cx="343814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event, speakers have no data on what topics resonated most.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206240" y="3200400"/>
            <a:ext cx="3657600" cy="1600200"/>
          </a:xfrm>
          <a:prstGeom prst="roundRect">
            <a:avLst>
              <a:gd name="adj" fmla="val 6857"/>
            </a:avLst>
          </a:prstGeom>
          <a:solidFill>
            <a:srgbClr val="1E293B"/>
          </a:solidFill>
          <a:ln w="19050">
            <a:solidFill>
              <a:srgbClr val="6C63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06240" y="32461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🤖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315968" y="3584448"/>
            <a:ext cx="34381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AI assistance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315968" y="3858768"/>
            <a:ext cx="343814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intelligent suggestion engine to help attendees frame better questions.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6377940"/>
            <a:ext cx="1219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Kealvi — Live Q&amp;A &amp; Polls Platform   |   3 / 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320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Objectives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10972800" cy="438912"/>
          </a:xfrm>
          <a:prstGeom prst="roundRect">
            <a:avLst>
              <a:gd name="adj" fmla="val 12500"/>
            </a:avLst>
          </a:prstGeom>
          <a:solidFill>
            <a:srgbClr val="1E293B"/>
          </a:solidFill>
          <a:ln w="6350">
            <a:solidFill>
              <a:srgbClr val="6C63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69848"/>
            <a:ext cx="10515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Build a real-time Q&amp;A system that lets attendees submit, upvote &amp; feature questions.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20040" y="1554480"/>
            <a:ext cx="10972800" cy="438912"/>
          </a:xfrm>
          <a:prstGeom prst="roundRect">
            <a:avLst>
              <a:gd name="adj" fmla="val 12500"/>
            </a:avLst>
          </a:prstGeom>
          <a:solidFill>
            <a:srgbClr val="162032"/>
          </a:solidFill>
          <a:ln w="6350">
            <a:solidFill>
              <a:srgbClr val="6C63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572768"/>
            <a:ext cx="10515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Provide live polling with instant vote visualisation and progress bars.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20040" y="2057400"/>
            <a:ext cx="10972800" cy="438912"/>
          </a:xfrm>
          <a:prstGeom prst="roundRect">
            <a:avLst>
              <a:gd name="adj" fmla="val 12500"/>
            </a:avLst>
          </a:prstGeom>
          <a:solidFill>
            <a:srgbClr val="1E293B"/>
          </a:solidFill>
          <a:ln w="6350">
            <a:solidFill>
              <a:srgbClr val="6C63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075688"/>
            <a:ext cx="10515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Integrate Gemini AI to generate question &amp; poll suggestions automatically.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20040" y="2560320"/>
            <a:ext cx="10972800" cy="438912"/>
          </a:xfrm>
          <a:prstGeom prst="roundRect">
            <a:avLst>
              <a:gd name="adj" fmla="val 12500"/>
            </a:avLst>
          </a:prstGeom>
          <a:solidFill>
            <a:srgbClr val="162032"/>
          </a:solidFill>
          <a:ln w="6350">
            <a:solidFill>
              <a:srgbClr val="6C63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578608"/>
            <a:ext cx="10515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Create a rich Analytics dashboard with vote distribution charts.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20040" y="3063240"/>
            <a:ext cx="10972800" cy="438912"/>
          </a:xfrm>
          <a:prstGeom prst="roundRect">
            <a:avLst>
              <a:gd name="adj" fmla="val 12500"/>
            </a:avLst>
          </a:prstGeom>
          <a:solidFill>
            <a:srgbClr val="1E293B"/>
          </a:solidFill>
          <a:ln w="6350">
            <a:solidFill>
              <a:srgbClr val="6C63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081528"/>
            <a:ext cx="10515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Display a Leaderboard to gamify participation and drive engagement.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20040" y="3566160"/>
            <a:ext cx="10972800" cy="438912"/>
          </a:xfrm>
          <a:prstGeom prst="roundRect">
            <a:avLst>
              <a:gd name="adj" fmla="val 12500"/>
            </a:avLst>
          </a:prstGeom>
          <a:solidFill>
            <a:srgbClr val="162032"/>
          </a:solidFill>
          <a:ln w="6350">
            <a:solidFill>
              <a:srgbClr val="6C63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584448"/>
            <a:ext cx="10515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Ensure graceful offline fallback so the app works without a live database.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20040" y="4069080"/>
            <a:ext cx="10972800" cy="438912"/>
          </a:xfrm>
          <a:prstGeom prst="roundRect">
            <a:avLst>
              <a:gd name="adj" fmla="val 12500"/>
            </a:avLst>
          </a:prstGeom>
          <a:solidFill>
            <a:srgbClr val="1E293B"/>
          </a:solidFill>
          <a:ln w="6350">
            <a:solidFill>
              <a:srgbClr val="6C63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087368"/>
            <a:ext cx="10515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Deliver a production-grade Next.js 16 app with SSR, TypeScript &amp; Supabase.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6377940"/>
            <a:ext cx="1219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Kealvi — Live Q&amp;A &amp; Polls Platform   |   4 / 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320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Our Solution — Kealvi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20040" y="10058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full-stack, AI-powered live Q&amp;A and polling platform designed for conferences, classrooms &amp; webinars.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554480"/>
            <a:ext cx="3657600" cy="1600200"/>
          </a:xfrm>
          <a:prstGeom prst="roundRect">
            <a:avLst>
              <a:gd name="adj" fmla="val 6857"/>
            </a:avLst>
          </a:prstGeom>
          <a:solidFill>
            <a:srgbClr val="1E293B"/>
          </a:solidFill>
          <a:ln w="19050">
            <a:solidFill>
              <a:srgbClr val="6C63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6002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❓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29768" y="1938528"/>
            <a:ext cx="34381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Q&amp;A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29768" y="2212848"/>
            <a:ext cx="343814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Attendees submit &amp; upvote questions. Speakers can pin featured questions to top.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06240" y="1554480"/>
            <a:ext cx="3657600" cy="1600200"/>
          </a:xfrm>
          <a:prstGeom prst="roundRect">
            <a:avLst>
              <a:gd name="adj" fmla="val 6857"/>
            </a:avLst>
          </a:prstGeom>
          <a:solidFill>
            <a:srgbClr val="1E293B"/>
          </a:solidFill>
          <a:ln w="19050">
            <a:solidFill>
              <a:srgbClr val="6C63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06240" y="16002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📊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315968" y="1938528"/>
            <a:ext cx="34381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Polls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315968" y="2212848"/>
            <a:ext cx="343814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multi-option polls, see live vote percentages &amp; progress bars update instantly.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92440" y="1554480"/>
            <a:ext cx="3657600" cy="1600200"/>
          </a:xfrm>
          <a:prstGeom prst="roundRect">
            <a:avLst>
              <a:gd name="adj" fmla="val 6857"/>
            </a:avLst>
          </a:prstGeom>
          <a:solidFill>
            <a:srgbClr val="1E293B"/>
          </a:solidFill>
          <a:ln w="19050">
            <a:solidFill>
              <a:srgbClr val="6C63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92440" y="16002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✨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202168" y="1938528"/>
            <a:ext cx="34381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Suggestions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02168" y="2212848"/>
            <a:ext cx="343814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AI generates contextual question &amp; poll suggestions with one click.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0040" y="3246120"/>
            <a:ext cx="3657600" cy="1600200"/>
          </a:xfrm>
          <a:prstGeom prst="roundRect">
            <a:avLst>
              <a:gd name="adj" fmla="val 6857"/>
            </a:avLst>
          </a:prstGeom>
          <a:solidFill>
            <a:srgbClr val="1E293B"/>
          </a:solidFill>
          <a:ln w="19050">
            <a:solidFill>
              <a:srgbClr val="6C63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32918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📈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29768" y="3630168"/>
            <a:ext cx="34381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29768" y="3904488"/>
            <a:ext cx="343814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charts of vote distribution for questions &amp; polls help speakers understand the room.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206240" y="3246120"/>
            <a:ext cx="3657600" cy="1600200"/>
          </a:xfrm>
          <a:prstGeom prst="roundRect">
            <a:avLst>
              <a:gd name="adj" fmla="val 6857"/>
            </a:avLst>
          </a:prstGeom>
          <a:solidFill>
            <a:srgbClr val="1E293B"/>
          </a:solidFill>
          <a:ln w="19050">
            <a:solidFill>
              <a:srgbClr val="6C63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06240" y="32918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🏆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315968" y="3630168"/>
            <a:ext cx="34381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Leaderboard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315968" y="3904488"/>
            <a:ext cx="343814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contributors are ranked. Trophy badges appear next to high-vote authors.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092440" y="3246120"/>
            <a:ext cx="3657600" cy="1600200"/>
          </a:xfrm>
          <a:prstGeom prst="roundRect">
            <a:avLst>
              <a:gd name="adj" fmla="val 6857"/>
            </a:avLst>
          </a:prstGeom>
          <a:solidFill>
            <a:srgbClr val="1E293B"/>
          </a:solidFill>
          <a:ln w="19050">
            <a:solidFill>
              <a:srgbClr val="6C63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92440" y="32918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🔁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8202168" y="3630168"/>
            <a:ext cx="34381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Mode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202168" y="3904488"/>
            <a:ext cx="343814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operations fall back to rich seed data so the UI works even without a database.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6377940"/>
            <a:ext cx="1219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Kealvi — Live Q&amp;A &amp; Polls Platform   |   5 / 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320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  Tech Stack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2788920" cy="411480"/>
          </a:xfrm>
          <a:prstGeom prst="roundRect">
            <a:avLst>
              <a:gd name="adj" fmla="val 13333"/>
            </a:avLst>
          </a:prstGeom>
          <a:solidFill>
            <a:srgbClr val="6C63FF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051560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508760"/>
            <a:ext cx="2788920" cy="2651760"/>
          </a:xfrm>
          <a:prstGeom prst="roundRect">
            <a:avLst>
              <a:gd name="adj" fmla="val 2759"/>
            </a:avLst>
          </a:prstGeom>
          <a:solidFill>
            <a:srgbClr val="1E293B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627632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Next.js 16.2 (App Router)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103120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React 19 (Server + Client Components)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578608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TypeScript 5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054096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Tailwind CSS (utility-first)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529584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Recharts (data visualisation)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46120" y="1051560"/>
            <a:ext cx="2788920" cy="411480"/>
          </a:xfrm>
          <a:prstGeom prst="roundRect">
            <a:avLst>
              <a:gd name="adj" fmla="val 13333"/>
            </a:avLst>
          </a:prstGeom>
          <a:solidFill>
            <a:srgbClr val="6C63FF"/>
          </a:solidFill>
          <a:ln/>
        </p:spPr>
      </p:sp>
      <p:sp>
        <p:nvSpPr>
          <p:cNvPr id="14" name="Text 12"/>
          <p:cNvSpPr/>
          <p:nvPr/>
        </p:nvSpPr>
        <p:spPr>
          <a:xfrm>
            <a:off x="3246120" y="1051560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/ API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246120" y="1508760"/>
            <a:ext cx="2788920" cy="2651760"/>
          </a:xfrm>
          <a:prstGeom prst="roundRect">
            <a:avLst>
              <a:gd name="adj" fmla="val 2759"/>
            </a:avLst>
          </a:prstGeom>
          <a:solidFill>
            <a:srgbClr val="1E293B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83280" y="1627632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Next.js Route Handlers (REST)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83280" y="2103120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Supabase (PostgreSQL + real-time)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83280" y="2578608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Row Level Security (RLS)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83280" y="3054096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Connection Pooling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72200" y="1051560"/>
            <a:ext cx="2788920" cy="411480"/>
          </a:xfrm>
          <a:prstGeom prst="roundRect">
            <a:avLst>
              <a:gd name="adj" fmla="val 13333"/>
            </a:avLst>
          </a:prstGeom>
          <a:solidFill>
            <a:srgbClr val="6C63FF"/>
          </a:solidFill>
          <a:ln/>
        </p:spPr>
      </p:sp>
      <p:sp>
        <p:nvSpPr>
          <p:cNvPr id="21" name="Text 19"/>
          <p:cNvSpPr/>
          <p:nvPr/>
        </p:nvSpPr>
        <p:spPr>
          <a:xfrm>
            <a:off x="6172200" y="1051560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Intelligence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172200" y="1508760"/>
            <a:ext cx="2788920" cy="2651760"/>
          </a:xfrm>
          <a:prstGeom prst="roundRect">
            <a:avLst>
              <a:gd name="adj" fmla="val 2759"/>
            </a:avLst>
          </a:prstGeom>
          <a:solidFill>
            <a:srgbClr val="1E293B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09360" y="1627632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Google Gemini 1.5 Flash API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309360" y="2103120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AI-generated Q&amp;A suggestions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309360" y="2578608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AI-generated Poll suggestions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309360" y="3054096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AI Analyst insights on Summary page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9098280" y="1051560"/>
            <a:ext cx="2788920" cy="411480"/>
          </a:xfrm>
          <a:prstGeom prst="roundRect">
            <a:avLst>
              <a:gd name="adj" fmla="val 13333"/>
            </a:avLst>
          </a:prstGeom>
          <a:solidFill>
            <a:srgbClr val="6C63FF"/>
          </a:solidFill>
          <a:ln/>
        </p:spPr>
      </p:sp>
      <p:sp>
        <p:nvSpPr>
          <p:cNvPr id="28" name="Text 26"/>
          <p:cNvSpPr/>
          <p:nvPr/>
        </p:nvSpPr>
        <p:spPr>
          <a:xfrm>
            <a:off x="9098280" y="1051560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&amp; Infra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9098280" y="1508760"/>
            <a:ext cx="2788920" cy="2651760"/>
          </a:xfrm>
          <a:prstGeom prst="roundRect">
            <a:avLst>
              <a:gd name="adj" fmla="val 2759"/>
            </a:avLst>
          </a:prstGeom>
          <a:solidFill>
            <a:srgbClr val="1E293B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235440" y="1627632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Vercel (deployment + Edge)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235440" y="2103120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Supabase Cloud (managed DB)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235440" y="2578608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NPM + Turbopack (build tool)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235440" y="3054096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ESLint + TypeScript strict mode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6377940"/>
            <a:ext cx="1219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Kealvi — Live Q&amp;A &amp; Polls Platform   |   6 / 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320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  System Architecture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2926080" cy="384048"/>
          </a:xfrm>
          <a:prstGeom prst="roundRect">
            <a:avLst>
              <a:gd name="adj" fmla="val 14286"/>
            </a:avLst>
          </a:prstGeom>
          <a:solidFill>
            <a:srgbClr val="6C63F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5156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(Client)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2926080" cy="1499616"/>
          </a:xfrm>
          <a:prstGeom prst="roundRect">
            <a:avLst>
              <a:gd name="adj" fmla="val 3659"/>
            </a:avLst>
          </a:prstGeom>
          <a:solidFill>
            <a:srgbClr val="1E293B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563624"/>
            <a:ext cx="27066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React Components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66928" y="2002536"/>
            <a:ext cx="27066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Client State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66928" y="2441448"/>
            <a:ext cx="27066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Optimistic UI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749040" y="1051560"/>
            <a:ext cx="2926080" cy="384048"/>
          </a:xfrm>
          <a:prstGeom prst="roundRect">
            <a:avLst>
              <a:gd name="adj" fmla="val 14286"/>
            </a:avLst>
          </a:prstGeom>
          <a:solidFill>
            <a:srgbClr val="7C3AED"/>
          </a:solidFill>
          <a:ln/>
        </p:spPr>
      </p:sp>
      <p:sp>
        <p:nvSpPr>
          <p:cNvPr id="12" name="Text 10"/>
          <p:cNvSpPr/>
          <p:nvPr/>
        </p:nvSpPr>
        <p:spPr>
          <a:xfrm>
            <a:off x="3749040" y="105156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16 Server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749040" y="1463040"/>
            <a:ext cx="2926080" cy="1499616"/>
          </a:xfrm>
          <a:prstGeom prst="roundRect">
            <a:avLst>
              <a:gd name="adj" fmla="val 3659"/>
            </a:avLst>
          </a:prstGeom>
          <a:solidFill>
            <a:srgbClr val="1E293B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58768" y="1563624"/>
            <a:ext cx="27066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 Router / SSR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858768" y="2002536"/>
            <a:ext cx="27066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Route Handlers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858768" y="2441448"/>
            <a:ext cx="27066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Server Actions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040880" y="1051560"/>
            <a:ext cx="2926080" cy="384048"/>
          </a:xfrm>
          <a:prstGeom prst="roundRect">
            <a:avLst>
              <a:gd name="adj" fmla="val 14286"/>
            </a:avLst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7040880" y="105156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(PostgreSQL)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040880" y="1463040"/>
            <a:ext cx="2926080" cy="1499616"/>
          </a:xfrm>
          <a:prstGeom prst="roundRect">
            <a:avLst>
              <a:gd name="adj" fmla="val 3659"/>
            </a:avLst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50608" y="1563624"/>
            <a:ext cx="27066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questions table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150608" y="2002536"/>
            <a:ext cx="27066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votes table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150608" y="2441448"/>
            <a:ext cx="27066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polls + poll_votes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10332720" y="1051560"/>
            <a:ext cx="1691640" cy="384048"/>
          </a:xfrm>
          <a:prstGeom prst="roundRect">
            <a:avLst>
              <a:gd name="adj" fmla="val 14286"/>
            </a:avLst>
          </a:prstGeom>
          <a:solidFill>
            <a:srgbClr val="D97706"/>
          </a:solidFill>
          <a:ln/>
        </p:spPr>
      </p:sp>
      <p:sp>
        <p:nvSpPr>
          <p:cNvPr id="24" name="Text 22"/>
          <p:cNvSpPr/>
          <p:nvPr/>
        </p:nvSpPr>
        <p:spPr>
          <a:xfrm>
            <a:off x="10332720" y="1051560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AI API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0332720" y="1463040"/>
            <a:ext cx="1691640" cy="1060704"/>
          </a:xfrm>
          <a:prstGeom prst="roundRect">
            <a:avLst>
              <a:gd name="adj" fmla="val 5172"/>
            </a:avLst>
          </a:prstGeom>
          <a:solidFill>
            <a:srgbClr val="1E293B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442448" y="1563624"/>
            <a:ext cx="147218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Suggestions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0442448" y="2002536"/>
            <a:ext cx="147218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Insights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383280" y="1243584"/>
            <a:ext cx="365760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ysDash"/>
          </a:ln>
        </p:spPr>
      </p:sp>
      <p:sp>
        <p:nvSpPr>
          <p:cNvPr id="29" name="Text 27"/>
          <p:cNvSpPr/>
          <p:nvPr/>
        </p:nvSpPr>
        <p:spPr>
          <a:xfrm>
            <a:off x="3383280" y="110642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6B6D4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⟷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675120" y="1243584"/>
            <a:ext cx="365760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ysDash"/>
          </a:ln>
        </p:spPr>
      </p:sp>
      <p:sp>
        <p:nvSpPr>
          <p:cNvPr id="31" name="Text 29"/>
          <p:cNvSpPr/>
          <p:nvPr/>
        </p:nvSpPr>
        <p:spPr>
          <a:xfrm>
            <a:off x="6675120" y="110642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6B6D4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⟷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9966960" y="1243584"/>
            <a:ext cx="365760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ysDash"/>
          </a:ln>
        </p:spPr>
      </p:sp>
      <p:sp>
        <p:nvSpPr>
          <p:cNvPr id="33" name="Text 31"/>
          <p:cNvSpPr/>
          <p:nvPr/>
        </p:nvSpPr>
        <p:spPr>
          <a:xfrm>
            <a:off x="9966960" y="110642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6B6D4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⟷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3383280" y="89611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Fetch / POST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675120" y="89611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JS SDK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57200" y="3200400"/>
            <a:ext cx="11567160" cy="1280160"/>
          </a:xfrm>
          <a:prstGeom prst="roundRect">
            <a:avLst>
              <a:gd name="adj" fmla="val 7143"/>
            </a:avLst>
          </a:prstGeom>
          <a:solidFill>
            <a:srgbClr val="162032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4360" y="32735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94360" y="3566160"/>
            <a:ext cx="11338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1️⃣  User submits a question/poll via the Browser → 2️⃣  Next.js Route Handler receives the POST request → 3️⃣  Supabase JS SDK inserts row into PostgreSQL → 4️⃣  Client state updates optimistically (no page reload) → 5️⃣  AI Suggest button calls /api/ai/suggest → Gemini API returns contextual ideas.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6377940"/>
            <a:ext cx="1219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Kealvi — Live Q&amp;A &amp; Polls Platform   |   7 / 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320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 Module 1: Live Questions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11247120" cy="749808"/>
          </a:xfrm>
          <a:prstGeom prst="roundRect">
            <a:avLst>
              <a:gd name="adj" fmla="val 14634"/>
            </a:avLst>
          </a:prstGeom>
          <a:solidFill>
            <a:srgbClr val="1E293B"/>
          </a:solidFill>
          <a:ln w="19050">
            <a:solidFill>
              <a:srgbClr val="6C63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1161288"/>
            <a:ext cx="110276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&amp; Submit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29768" y="1453896"/>
            <a:ext cx="11027664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attendee can type a question and click Ask. It immediately appears at the top of the list using optimistic UI — no page reload needed.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0040" y="1856232"/>
            <a:ext cx="11247120" cy="749808"/>
          </a:xfrm>
          <a:prstGeom prst="roundRect">
            <a:avLst>
              <a:gd name="adj" fmla="val 14634"/>
            </a:avLst>
          </a:prstGeom>
          <a:solidFill>
            <a:srgbClr val="1E293B"/>
          </a:solidFill>
          <a:ln w="19050">
            <a:solidFill>
              <a:srgbClr val="6C63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" y="1965960"/>
            <a:ext cx="110276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Upvoting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29768" y="2258568"/>
            <a:ext cx="11027664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▲ arrow to vote for any question. The vote count updates instantly on all clients.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" y="2660904"/>
            <a:ext cx="11247120" cy="749808"/>
          </a:xfrm>
          <a:prstGeom prst="roundRect">
            <a:avLst>
              <a:gd name="adj" fmla="val 14634"/>
            </a:avLst>
          </a:prstGeom>
          <a:solidFill>
            <a:srgbClr val="1E293B"/>
          </a:solidFill>
          <a:ln w="19050">
            <a:solidFill>
              <a:srgbClr val="6C63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9768" y="2770632"/>
            <a:ext cx="110276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Featured / Pin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29768" y="3063240"/>
            <a:ext cx="11027664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Admins can pin up to 3 questions as Featured (📌). These are always displayed first.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" y="3465576"/>
            <a:ext cx="11247120" cy="749808"/>
          </a:xfrm>
          <a:prstGeom prst="roundRect">
            <a:avLst>
              <a:gd name="adj" fmla="val 14634"/>
            </a:avLst>
          </a:prstGeom>
          <a:solidFill>
            <a:srgbClr val="1E293B"/>
          </a:solidFill>
          <a:ln w="19050">
            <a:solidFill>
              <a:srgbClr val="6C63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9768" y="3575304"/>
            <a:ext cx="110276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Filter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29768" y="3867912"/>
            <a:ext cx="11027664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debounced search. Filter by hashtag tags like #React, #Database. Sort by Most Recent or Most Voted.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0040" y="4270248"/>
            <a:ext cx="11247120" cy="749808"/>
          </a:xfrm>
          <a:prstGeom prst="roundRect">
            <a:avLst>
              <a:gd name="adj" fmla="val 14634"/>
            </a:avLst>
          </a:prstGeom>
          <a:solidFill>
            <a:srgbClr val="1E293B"/>
          </a:solidFill>
          <a:ln w="19050">
            <a:solidFill>
              <a:srgbClr val="6C63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9768" y="4379976"/>
            <a:ext cx="110276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Contributor Badge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29768" y="4672584"/>
            <a:ext cx="11027664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Authors with 10+ votes on a question receive the 🏆 badge automatically.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" y="5074920"/>
            <a:ext cx="11247120" cy="749808"/>
          </a:xfrm>
          <a:prstGeom prst="roundRect">
            <a:avLst>
              <a:gd name="adj" fmla="val 14634"/>
            </a:avLst>
          </a:prstGeom>
          <a:solidFill>
            <a:srgbClr val="1E293B"/>
          </a:solidFill>
          <a:ln w="19050">
            <a:solidFill>
              <a:srgbClr val="6C63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9768" y="5184648"/>
            <a:ext cx="110276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Suggest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29768" y="5477256"/>
            <a:ext cx="11027664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click generates 5 contextual question ideas via the Gemini API.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6377940"/>
            <a:ext cx="1219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Kealvi — Live Q&amp;A &amp; Polls Platform   |   8 / 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320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Module 2: Live Polls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11247120" cy="749808"/>
          </a:xfrm>
          <a:prstGeom prst="roundRect">
            <a:avLst>
              <a:gd name="adj" fmla="val 14634"/>
            </a:avLst>
          </a:prstGeom>
          <a:solidFill>
            <a:srgbClr val="1E293B"/>
          </a:solidFill>
          <a:ln w="19050">
            <a:solidFill>
              <a:srgbClr val="6C63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1161288"/>
            <a:ext cx="110276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Poll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29768" y="1453896"/>
            <a:ext cx="11027664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a question + 2–10 options. Click Create Poll. The new poll instantly appears below the form without refreshing.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0040" y="1856232"/>
            <a:ext cx="11247120" cy="749808"/>
          </a:xfrm>
          <a:prstGeom prst="roundRect">
            <a:avLst>
              <a:gd name="adj" fmla="val 14634"/>
            </a:avLst>
          </a:prstGeom>
          <a:solidFill>
            <a:srgbClr val="1E293B"/>
          </a:solidFill>
          <a:ln w="19050">
            <a:solidFill>
              <a:srgbClr val="6C63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" y="1965960"/>
            <a:ext cx="110276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29768" y="2258568"/>
            <a:ext cx="11027664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any option to cast your vote. The progress bar and vote count update live in the browser.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" y="2660904"/>
            <a:ext cx="11247120" cy="749808"/>
          </a:xfrm>
          <a:prstGeom prst="roundRect">
            <a:avLst>
              <a:gd name="adj" fmla="val 14634"/>
            </a:avLst>
          </a:prstGeom>
          <a:solidFill>
            <a:srgbClr val="1E293B"/>
          </a:solidFill>
          <a:ln w="19050">
            <a:solidFill>
              <a:srgbClr val="6C63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9768" y="2770632"/>
            <a:ext cx="110276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Poll Topic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29768" y="3063240"/>
            <a:ext cx="11027664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✏️ Edit to change the poll question text inline via a prompt dialog.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" y="3465576"/>
            <a:ext cx="11247120" cy="749808"/>
          </a:xfrm>
          <a:prstGeom prst="roundRect">
            <a:avLst>
              <a:gd name="adj" fmla="val 14634"/>
            </a:avLst>
          </a:prstGeom>
          <a:solidFill>
            <a:srgbClr val="1E293B"/>
          </a:solidFill>
          <a:ln w="19050">
            <a:solidFill>
              <a:srgbClr val="6C63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9768" y="3575304"/>
            <a:ext cx="110276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Poll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29768" y="3867912"/>
            <a:ext cx="11027664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🗑 Delete (with confirmation) to remove a poll and all associated votes.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0040" y="4270248"/>
            <a:ext cx="11247120" cy="749808"/>
          </a:xfrm>
          <a:prstGeom prst="roundRect">
            <a:avLst>
              <a:gd name="adj" fmla="val 14634"/>
            </a:avLst>
          </a:prstGeom>
          <a:solidFill>
            <a:srgbClr val="1E293B"/>
          </a:solidFill>
          <a:ln w="19050">
            <a:solidFill>
              <a:srgbClr val="6C63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9768" y="4379976"/>
            <a:ext cx="110276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Hashtag Filtering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29768" y="4672584"/>
            <a:ext cx="11027664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Polls support hashtags like #React #CSS. Filter the poll list by clicking any trending tag.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" y="5074920"/>
            <a:ext cx="11247120" cy="749808"/>
          </a:xfrm>
          <a:prstGeom prst="roundRect">
            <a:avLst>
              <a:gd name="adj" fmla="val 14634"/>
            </a:avLst>
          </a:prstGeom>
          <a:solidFill>
            <a:srgbClr val="1E293B"/>
          </a:solidFill>
          <a:ln w="19050">
            <a:solidFill>
              <a:srgbClr val="6C63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9768" y="5184648"/>
            <a:ext cx="110276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Suggest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29768" y="5477256"/>
            <a:ext cx="11027664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a full poll structure (question + options) with one click using Gemini AI.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6377940"/>
            <a:ext cx="1219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Kealvi — Live Q&amp;A &amp; Polls Platform   |   9 / 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320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Module 3: Analytics &amp; AI Summary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5669280" cy="1508760"/>
          </a:xfrm>
          <a:prstGeom prst="roundRect">
            <a:avLst>
              <a:gd name="adj" fmla="val 7273"/>
            </a:avLst>
          </a:prstGeom>
          <a:solidFill>
            <a:srgbClr val="1E293B"/>
          </a:solidFill>
          <a:ln w="19050">
            <a:solidFill>
              <a:srgbClr val="6C63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97280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📉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29768" y="1435608"/>
            <a:ext cx="54498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 Distribution Chart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29768" y="1709928"/>
            <a:ext cx="544982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 (Recharts) shows per-question vote counts. Speakers instantly see which topics are hottest.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17920" y="1051560"/>
            <a:ext cx="5669280" cy="1508760"/>
          </a:xfrm>
          <a:prstGeom prst="roundRect">
            <a:avLst>
              <a:gd name="adj" fmla="val 7273"/>
            </a:avLst>
          </a:prstGeom>
          <a:solidFill>
            <a:srgbClr val="1E293B"/>
          </a:solidFill>
          <a:ln w="19050">
            <a:solidFill>
              <a:srgbClr val="6C63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0" y="1097280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🗳️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327648" y="1435608"/>
            <a:ext cx="54498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 Vote Distributions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327648" y="1709928"/>
            <a:ext cx="544982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active poll renders a horizontal bar chart showing option percentages in real-time.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0040" y="2697480"/>
            <a:ext cx="5669280" cy="1508760"/>
          </a:xfrm>
          <a:prstGeom prst="roundRect">
            <a:avLst>
              <a:gd name="adj" fmla="val 7273"/>
            </a:avLst>
          </a:prstGeom>
          <a:solidFill>
            <a:srgbClr val="1E293B"/>
          </a:solidFill>
          <a:ln w="19050">
            <a:solidFill>
              <a:srgbClr val="6C63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2743200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🤖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29768" y="3081528"/>
            <a:ext cx="54498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Analyst Insights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29768" y="3355848"/>
            <a:ext cx="544982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AI analyses all current Q&amp;A and poll data to surface Audience Focus Areas, Hot Topics &amp; Speaker Recommendations.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217920" y="2697480"/>
            <a:ext cx="5669280" cy="1508760"/>
          </a:xfrm>
          <a:prstGeom prst="roundRect">
            <a:avLst>
              <a:gd name="adj" fmla="val 7273"/>
            </a:avLst>
          </a:prstGeom>
          <a:solidFill>
            <a:srgbClr val="1E293B"/>
          </a:solidFill>
          <a:ln w="19050">
            <a:solidFill>
              <a:srgbClr val="6C63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0" y="2743200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📋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327648" y="3081528"/>
            <a:ext cx="54498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327648" y="3355848"/>
            <a:ext cx="544982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dedicated Summary page aggregates: total questions, votes, polls, poll votes &amp; featured count with live-refresh capability.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0040" y="4343400"/>
            <a:ext cx="5669280" cy="1508760"/>
          </a:xfrm>
          <a:prstGeom prst="roundRect">
            <a:avLst>
              <a:gd name="adj" fmla="val 7273"/>
            </a:avLst>
          </a:prstGeom>
          <a:solidFill>
            <a:srgbClr val="1E293B"/>
          </a:solidFill>
          <a:ln w="19050">
            <a:solidFill>
              <a:srgbClr val="6C63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4389120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🏆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29768" y="4727448"/>
            <a:ext cx="54498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Leaderboard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29768" y="5001768"/>
            <a:ext cx="544982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Ranks the most active participants by total votes received across all their questions.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217920" y="4343400"/>
            <a:ext cx="5669280" cy="1508760"/>
          </a:xfrm>
          <a:prstGeom prst="roundRect">
            <a:avLst>
              <a:gd name="adj" fmla="val 7273"/>
            </a:avLst>
          </a:prstGeom>
          <a:solidFill>
            <a:srgbClr val="1E293B"/>
          </a:solidFill>
          <a:ln w="19050">
            <a:solidFill>
              <a:srgbClr val="6C63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0" y="4389120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🔄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327648" y="4727448"/>
            <a:ext cx="54498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Analysis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327648" y="5001768"/>
            <a:ext cx="544982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Refresh Analysis button re-calls the Gemini API to get fresh insights as the audience engages further.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6377940"/>
            <a:ext cx="1219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Kealvi — Live Q&amp;A &amp; Polls Platform   |   10 / 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320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  Output Screenshots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5623560" cy="1417320"/>
          </a:xfrm>
          <a:prstGeom prst="roundRect">
            <a:avLst>
              <a:gd name="adj" fmla="val 6452"/>
            </a:avLst>
          </a:prstGeom>
          <a:solidFill>
            <a:srgbClr val="1E293B"/>
          </a:solidFill>
          <a:ln w="19050">
            <a:solidFill>
              <a:srgbClr val="6C63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51560"/>
            <a:ext cx="5623560" cy="347472"/>
          </a:xfrm>
          <a:prstGeom prst="roundRect">
            <a:avLst>
              <a:gd name="adj" fmla="val 26316"/>
            </a:avLst>
          </a:prstGeom>
          <a:solidFill>
            <a:srgbClr val="6C63FF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051560"/>
            <a:ext cx="5623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29768" y="1435608"/>
            <a:ext cx="540410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 cards: 25 Questions · 66 Q-Votes · 5 Polls · 99 Poll Votes · 3 Featured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172200" y="1051560"/>
            <a:ext cx="5623560" cy="1417320"/>
          </a:xfrm>
          <a:prstGeom prst="roundRect">
            <a:avLst>
              <a:gd name="adj" fmla="val 6452"/>
            </a:avLst>
          </a:prstGeom>
          <a:solidFill>
            <a:srgbClr val="1E293B"/>
          </a:solidFill>
          <a:ln w="19050">
            <a:solidFill>
              <a:srgbClr val="6C63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72200" y="1051560"/>
            <a:ext cx="5623560" cy="347472"/>
          </a:xfrm>
          <a:prstGeom prst="roundRect">
            <a:avLst>
              <a:gd name="adj" fmla="val 26316"/>
            </a:avLst>
          </a:prstGeom>
          <a:solidFill>
            <a:srgbClr val="6C63FF"/>
          </a:solidFill>
          <a:ln/>
        </p:spPr>
      </p:sp>
      <p:sp>
        <p:nvSpPr>
          <p:cNvPr id="11" name="Text 9"/>
          <p:cNvSpPr/>
          <p:nvPr/>
        </p:nvSpPr>
        <p:spPr>
          <a:xfrm>
            <a:off x="6172200" y="1051560"/>
            <a:ext cx="5623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281928" y="1435608"/>
            <a:ext cx="540410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 with AI Analyst Insights (Audience Focus, Hot Topics, Recommendations)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0040" y="2651760"/>
            <a:ext cx="5623560" cy="1417320"/>
          </a:xfrm>
          <a:prstGeom prst="roundRect">
            <a:avLst>
              <a:gd name="adj" fmla="val 6452"/>
            </a:avLst>
          </a:prstGeom>
          <a:solidFill>
            <a:srgbClr val="1E293B"/>
          </a:solidFill>
          <a:ln w="19050">
            <a:solidFill>
              <a:srgbClr val="6C63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2651760"/>
            <a:ext cx="5623560" cy="347472"/>
          </a:xfrm>
          <a:prstGeom prst="roundRect">
            <a:avLst>
              <a:gd name="adj" fmla="val 26316"/>
            </a:avLst>
          </a:prstGeom>
          <a:solidFill>
            <a:srgbClr val="6C63FF"/>
          </a:solidFill>
          <a:ln/>
        </p:spPr>
      </p:sp>
      <p:sp>
        <p:nvSpPr>
          <p:cNvPr id="15" name="Text 13"/>
          <p:cNvSpPr/>
          <p:nvPr/>
        </p:nvSpPr>
        <p:spPr>
          <a:xfrm>
            <a:off x="320040" y="2651760"/>
            <a:ext cx="5623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29768" y="3035808"/>
            <a:ext cx="540410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Featured pins · Upvote ▲ · Sort by Voted · AI Suggest · Trending tag filters · 🏆 badges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172200" y="2651760"/>
            <a:ext cx="5623560" cy="1417320"/>
          </a:xfrm>
          <a:prstGeom prst="roundRect">
            <a:avLst>
              <a:gd name="adj" fmla="val 6452"/>
            </a:avLst>
          </a:prstGeom>
          <a:solidFill>
            <a:srgbClr val="1E293B"/>
          </a:solidFill>
          <a:ln w="19050">
            <a:solidFill>
              <a:srgbClr val="6C63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72200" y="2651760"/>
            <a:ext cx="5623560" cy="347472"/>
          </a:xfrm>
          <a:prstGeom prst="roundRect">
            <a:avLst>
              <a:gd name="adj" fmla="val 26316"/>
            </a:avLst>
          </a:prstGeom>
          <a:solidFill>
            <a:srgbClr val="6C63FF"/>
          </a:solidFill>
          <a:ln/>
        </p:spPr>
      </p:sp>
      <p:sp>
        <p:nvSpPr>
          <p:cNvPr id="19" name="Text 17"/>
          <p:cNvSpPr/>
          <p:nvPr/>
        </p:nvSpPr>
        <p:spPr>
          <a:xfrm>
            <a:off x="6172200" y="2651760"/>
            <a:ext cx="5623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81928" y="3035808"/>
            <a:ext cx="540410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Poll form · Live option voting with progress bars · Edit &amp; Delete · AI Suggest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46120" y="4160520"/>
            <a:ext cx="5943600" cy="1417320"/>
          </a:xfrm>
          <a:prstGeom prst="roundRect">
            <a:avLst>
              <a:gd name="adj" fmla="val 6452"/>
            </a:avLst>
          </a:prstGeom>
          <a:solidFill>
            <a:srgbClr val="1E293B"/>
          </a:solidFill>
          <a:ln w="19050">
            <a:solidFill>
              <a:srgbClr val="6C63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46120" y="4160520"/>
            <a:ext cx="5943600" cy="347472"/>
          </a:xfrm>
          <a:prstGeom prst="roundRect">
            <a:avLst>
              <a:gd name="adj" fmla="val 26316"/>
            </a:avLst>
          </a:prstGeom>
          <a:solidFill>
            <a:srgbClr val="6C63FF"/>
          </a:solidFill>
          <a:ln/>
        </p:spPr>
      </p:sp>
      <p:sp>
        <p:nvSpPr>
          <p:cNvPr id="23" name="Text 21"/>
          <p:cNvSpPr/>
          <p:nvPr/>
        </p:nvSpPr>
        <p:spPr>
          <a:xfrm>
            <a:off x="3246120" y="4160520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355848" y="4544568"/>
            <a:ext cx="572414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 (question votes) + Poll Vote Distribution bar charts (Recharts)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0" y="6103620"/>
            <a:ext cx="1219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 captured from localhost:3000  •  September 2026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6377940"/>
            <a:ext cx="1219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Kealvi — Live Q&amp;A &amp; Polls Platform   |   11 / 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320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  Database Schema (Supabase / PostgreSQL)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3749040" cy="365760"/>
          </a:xfrm>
          <a:prstGeom prst="roundRect">
            <a:avLst>
              <a:gd name="adj" fmla="val 15000"/>
            </a:avLst>
          </a:prstGeom>
          <a:solidFill>
            <a:srgbClr val="6C63FF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0515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435608"/>
            <a:ext cx="3749040" cy="1847088"/>
          </a:xfrm>
          <a:prstGeom prst="roundRect">
            <a:avLst>
              <a:gd name="adj" fmla="val 2970"/>
            </a:avLst>
          </a:prstGeom>
          <a:solidFill>
            <a:srgbClr val="1E293B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490472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 UUID PK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837944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body TEXT NOT NULL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2185416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author TEXT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2532888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is_featured BOOLEAN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" y="2880360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created_at TIMESTAMPTZ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297680" y="1051560"/>
            <a:ext cx="3749040" cy="365760"/>
          </a:xfrm>
          <a:prstGeom prst="roundRect">
            <a:avLst>
              <a:gd name="adj" fmla="val 15000"/>
            </a:avLst>
          </a:prstGeom>
          <a:solidFill>
            <a:srgbClr val="06B6D4"/>
          </a:solidFill>
          <a:ln/>
        </p:spPr>
      </p:sp>
      <p:sp>
        <p:nvSpPr>
          <p:cNvPr id="14" name="Text 12"/>
          <p:cNvSpPr/>
          <p:nvPr/>
        </p:nvSpPr>
        <p:spPr>
          <a:xfrm>
            <a:off x="4297680" y="10515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297680" y="1435608"/>
            <a:ext cx="3749040" cy="1847088"/>
          </a:xfrm>
          <a:prstGeom prst="roundRect">
            <a:avLst>
              <a:gd name="adj" fmla="val 2970"/>
            </a:avLst>
          </a:prstGeom>
          <a:solidFill>
            <a:srgbClr val="1E293B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0" y="1490472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 UUID PK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389120" y="1837944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question_id → questions.id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389120" y="2185416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voter_id TEXT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389120" y="2532888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UNIQUE (question_id, voter_id)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389120" y="2880360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created_at TIMESTAMPTZ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275320" y="1051560"/>
            <a:ext cx="3749040" cy="365760"/>
          </a:xfrm>
          <a:prstGeom prst="roundRect">
            <a:avLst>
              <a:gd name="adj" fmla="val 15000"/>
            </a:avLst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8275320" y="10515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275320" y="1435608"/>
            <a:ext cx="3749040" cy="1499616"/>
          </a:xfrm>
          <a:prstGeom prst="roundRect">
            <a:avLst>
              <a:gd name="adj" fmla="val 3659"/>
            </a:avLst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66760" y="1490472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 UUID PK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366760" y="1837944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body TEXT NOT NULL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366760" y="2185416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author TEXT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366760" y="2532888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created_at TIMESTAMPTZ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0040" y="2880360"/>
            <a:ext cx="3749040" cy="365760"/>
          </a:xfrm>
          <a:prstGeom prst="roundRect">
            <a:avLst>
              <a:gd name="adj" fmla="val 15000"/>
            </a:avLst>
          </a:prstGeom>
          <a:solidFill>
            <a:srgbClr val="10B981"/>
          </a:solidFill>
          <a:ln/>
        </p:spPr>
      </p:sp>
      <p:sp>
        <p:nvSpPr>
          <p:cNvPr id="29" name="Text 27"/>
          <p:cNvSpPr/>
          <p:nvPr/>
        </p:nvSpPr>
        <p:spPr>
          <a:xfrm>
            <a:off x="320040" y="28803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poll_options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20040" y="3264408"/>
            <a:ext cx="3749040" cy="1499616"/>
          </a:xfrm>
          <a:prstGeom prst="roundRect">
            <a:avLst>
              <a:gd name="adj" fmla="val 3659"/>
            </a:avLst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" y="3319272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 UUID PK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11480" y="3666744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poll_id → polls.id CASCADE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11480" y="4014216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option_text TEXT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11480" y="4361688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created_at TIMESTAMPTZ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297680" y="2880360"/>
            <a:ext cx="3749040" cy="365760"/>
          </a:xfrm>
          <a:prstGeom prst="roundRect">
            <a:avLst>
              <a:gd name="adj" fmla="val 15000"/>
            </a:avLst>
          </a:prstGeom>
          <a:solidFill>
            <a:srgbClr val="F43F5E"/>
          </a:solidFill>
          <a:ln/>
        </p:spPr>
      </p:sp>
      <p:sp>
        <p:nvSpPr>
          <p:cNvPr id="36" name="Text 34"/>
          <p:cNvSpPr/>
          <p:nvPr/>
        </p:nvSpPr>
        <p:spPr>
          <a:xfrm>
            <a:off x="4297680" y="28803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poll_votes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297680" y="3264408"/>
            <a:ext cx="3749040" cy="1847088"/>
          </a:xfrm>
          <a:prstGeom prst="roundRect">
            <a:avLst>
              <a:gd name="adj" fmla="val 2970"/>
            </a:avLst>
          </a:prstGeom>
          <a:solidFill>
            <a:srgbClr val="1E293B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389120" y="3319272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 UUID PK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389120" y="3666744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poll_id → polls.id CASCADE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389120" y="4014216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option_id → poll_options.id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389120" y="4361688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voter_id TEXT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389120" y="4709160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UNIQUE (poll_id, voter_id)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6377940"/>
            <a:ext cx="1219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Kealvi — Live Q&amp;A &amp; Polls Platform   |   12 / 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320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 References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5669280" cy="566928"/>
          </a:xfrm>
          <a:prstGeom prst="roundRect">
            <a:avLst>
              <a:gd name="adj" fmla="val 9677"/>
            </a:avLst>
          </a:prstGeom>
          <a:solidFill>
            <a:srgbClr val="1E293B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29768" y="1161288"/>
            <a:ext cx="1005840" cy="256032"/>
          </a:xfrm>
          <a:prstGeom prst="roundRect">
            <a:avLst>
              <a:gd name="adj" fmla="val 14286"/>
            </a:avLst>
          </a:prstGeom>
          <a:solidFill>
            <a:srgbClr val="6C63FF"/>
          </a:solidFill>
          <a:ln/>
        </p:spPr>
      </p:sp>
      <p:sp>
        <p:nvSpPr>
          <p:cNvPr id="7" name="Text 5"/>
          <p:cNvSpPr/>
          <p:nvPr/>
        </p:nvSpPr>
        <p:spPr>
          <a:xfrm>
            <a:off x="429768" y="116128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527048" y="1124712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16 Documentation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527048" y="1353312"/>
            <a:ext cx="4297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https://nextjs.org/docs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263640" y="1051560"/>
            <a:ext cx="5669280" cy="566928"/>
          </a:xfrm>
          <a:prstGeom prst="roundRect">
            <a:avLst>
              <a:gd name="adj" fmla="val 9677"/>
            </a:avLst>
          </a:prstGeom>
          <a:solidFill>
            <a:srgbClr val="1E293B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73368" y="1161288"/>
            <a:ext cx="1005840" cy="256032"/>
          </a:xfrm>
          <a:prstGeom prst="roundRect">
            <a:avLst>
              <a:gd name="adj" fmla="val 14286"/>
            </a:avLst>
          </a:prstGeom>
          <a:solidFill>
            <a:srgbClr val="6C63FF"/>
          </a:solidFill>
          <a:ln/>
        </p:spPr>
      </p:sp>
      <p:sp>
        <p:nvSpPr>
          <p:cNvPr id="12" name="Text 10"/>
          <p:cNvSpPr/>
          <p:nvPr/>
        </p:nvSpPr>
        <p:spPr>
          <a:xfrm>
            <a:off x="6373368" y="116128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470648" y="1124712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Docs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470648" y="1353312"/>
            <a:ext cx="4297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https://react.dev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0040" y="1709928"/>
            <a:ext cx="5669280" cy="566928"/>
          </a:xfrm>
          <a:prstGeom prst="roundRect">
            <a:avLst>
              <a:gd name="adj" fmla="val 9677"/>
            </a:avLst>
          </a:prstGeom>
          <a:solidFill>
            <a:srgbClr val="1E293B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29768" y="1819656"/>
            <a:ext cx="1005840" cy="256032"/>
          </a:xfrm>
          <a:prstGeom prst="roundRect">
            <a:avLst>
              <a:gd name="adj" fmla="val 14286"/>
            </a:avLst>
          </a:prstGeom>
          <a:solidFill>
            <a:srgbClr val="06B6D4"/>
          </a:solidFill>
          <a:ln/>
        </p:spPr>
      </p:sp>
      <p:sp>
        <p:nvSpPr>
          <p:cNvPr id="17" name="Text 15"/>
          <p:cNvSpPr/>
          <p:nvPr/>
        </p:nvSpPr>
        <p:spPr>
          <a:xfrm>
            <a:off x="429768" y="1819656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527048" y="1783080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Documentation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527048" y="2011680"/>
            <a:ext cx="4297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https://supabase.com/docs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263640" y="1709928"/>
            <a:ext cx="5669280" cy="566928"/>
          </a:xfrm>
          <a:prstGeom prst="roundRect">
            <a:avLst>
              <a:gd name="adj" fmla="val 9677"/>
            </a:avLst>
          </a:prstGeom>
          <a:solidFill>
            <a:srgbClr val="1E293B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73368" y="1819656"/>
            <a:ext cx="1005840" cy="256032"/>
          </a:xfrm>
          <a:prstGeom prst="roundRect">
            <a:avLst>
              <a:gd name="adj" fmla="val 14286"/>
            </a:avLst>
          </a:prstGeom>
          <a:solidFill>
            <a:srgbClr val="06B6D4"/>
          </a:solidFill>
          <a:ln/>
        </p:spPr>
      </p:sp>
      <p:sp>
        <p:nvSpPr>
          <p:cNvPr id="22" name="Text 20"/>
          <p:cNvSpPr/>
          <p:nvPr/>
        </p:nvSpPr>
        <p:spPr>
          <a:xfrm>
            <a:off x="6373368" y="1819656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7470648" y="1783080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Full-Text Search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470648" y="2011680"/>
            <a:ext cx="4297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https://www.postgresql.org/docs/current/textsearch.html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0040" y="2368296"/>
            <a:ext cx="5669280" cy="566928"/>
          </a:xfrm>
          <a:prstGeom prst="roundRect">
            <a:avLst>
              <a:gd name="adj" fmla="val 9677"/>
            </a:avLst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29768" y="2478024"/>
            <a:ext cx="1005840" cy="256032"/>
          </a:xfrm>
          <a:prstGeom prst="roundRect">
            <a:avLst>
              <a:gd name="adj" fmla="val 14286"/>
            </a:avLst>
          </a:prstGeom>
          <a:solidFill>
            <a:srgbClr val="F59E0B"/>
          </a:solidFill>
          <a:ln/>
        </p:spPr>
      </p:sp>
      <p:sp>
        <p:nvSpPr>
          <p:cNvPr id="27" name="Text 25"/>
          <p:cNvSpPr/>
          <p:nvPr/>
        </p:nvSpPr>
        <p:spPr>
          <a:xfrm>
            <a:off x="429768" y="2478024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527048" y="2441448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API Reference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527048" y="2670048"/>
            <a:ext cx="4297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https://ai.google.dev/api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263640" y="2368296"/>
            <a:ext cx="5669280" cy="566928"/>
          </a:xfrm>
          <a:prstGeom prst="roundRect">
            <a:avLst>
              <a:gd name="adj" fmla="val 9677"/>
            </a:avLst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373368" y="2478024"/>
            <a:ext cx="1005840" cy="256032"/>
          </a:xfrm>
          <a:prstGeom prst="roundRect">
            <a:avLst>
              <a:gd name="adj" fmla="val 14286"/>
            </a:avLst>
          </a:prstGeom>
          <a:solidFill>
            <a:srgbClr val="F59E0B"/>
          </a:solidFill>
          <a:ln/>
        </p:spPr>
      </p:sp>
      <p:sp>
        <p:nvSpPr>
          <p:cNvPr id="32" name="Text 30"/>
          <p:cNvSpPr/>
          <p:nvPr/>
        </p:nvSpPr>
        <p:spPr>
          <a:xfrm>
            <a:off x="6373368" y="2478024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7470648" y="2441448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Flash 1.5 Model Card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470648" y="2670048"/>
            <a:ext cx="4297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https://ai.google.dev/gemini-api/docs/models/gemini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20040" y="3026664"/>
            <a:ext cx="5669280" cy="566928"/>
          </a:xfrm>
          <a:prstGeom prst="roundRect">
            <a:avLst>
              <a:gd name="adj" fmla="val 9677"/>
            </a:avLst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29768" y="3136392"/>
            <a:ext cx="1005840" cy="256032"/>
          </a:xfrm>
          <a:prstGeom prst="roundRect">
            <a:avLst>
              <a:gd name="adj" fmla="val 14286"/>
            </a:avLst>
          </a:prstGeom>
          <a:solidFill>
            <a:srgbClr val="10B981"/>
          </a:solidFill>
          <a:ln/>
        </p:spPr>
      </p:sp>
      <p:sp>
        <p:nvSpPr>
          <p:cNvPr id="37" name="Text 35"/>
          <p:cNvSpPr/>
          <p:nvPr/>
        </p:nvSpPr>
        <p:spPr>
          <a:xfrm>
            <a:off x="429768" y="313639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1527048" y="3099816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Recharts Library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527048" y="3328416"/>
            <a:ext cx="4297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https://recharts.org/en-US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263640" y="3026664"/>
            <a:ext cx="5669280" cy="566928"/>
          </a:xfrm>
          <a:prstGeom prst="roundRect">
            <a:avLst>
              <a:gd name="adj" fmla="val 9677"/>
            </a:avLst>
          </a:prstGeom>
          <a:solidFill>
            <a:srgbClr val="1E293B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373368" y="3136392"/>
            <a:ext cx="1005840" cy="256032"/>
          </a:xfrm>
          <a:prstGeom prst="roundRect">
            <a:avLst>
              <a:gd name="adj" fmla="val 14286"/>
            </a:avLst>
          </a:prstGeom>
          <a:solidFill>
            <a:srgbClr val="F43F5E"/>
          </a:solidFill>
          <a:ln/>
        </p:spPr>
      </p:sp>
      <p:sp>
        <p:nvSpPr>
          <p:cNvPr id="42" name="Text 40"/>
          <p:cNvSpPr/>
          <p:nvPr/>
        </p:nvSpPr>
        <p:spPr>
          <a:xfrm>
            <a:off x="6373368" y="313639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7470648" y="3099816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Deployment Guide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470648" y="3328416"/>
            <a:ext cx="4297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https://vercel.com/docs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20040" y="3685032"/>
            <a:ext cx="5669280" cy="566928"/>
          </a:xfrm>
          <a:prstGeom prst="roundRect">
            <a:avLst>
              <a:gd name="adj" fmla="val 9677"/>
            </a:avLst>
          </a:prstGeom>
          <a:solidFill>
            <a:srgbClr val="1E293B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29768" y="3794760"/>
            <a:ext cx="1005840" cy="256032"/>
          </a:xfrm>
          <a:prstGeom prst="roundRect">
            <a:avLst>
              <a:gd name="adj" fmla="val 14286"/>
            </a:avLst>
          </a:prstGeom>
          <a:solidFill>
            <a:srgbClr val="8B5CF6"/>
          </a:solidFill>
          <a:ln/>
        </p:spPr>
      </p:sp>
      <p:sp>
        <p:nvSpPr>
          <p:cNvPr id="47" name="Text 45"/>
          <p:cNvSpPr/>
          <p:nvPr/>
        </p:nvSpPr>
        <p:spPr>
          <a:xfrm>
            <a:off x="429768" y="379476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1527048" y="3758184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Docs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1527048" y="3986784"/>
            <a:ext cx="4297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https://tailwindcss.com/docs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263640" y="3685032"/>
            <a:ext cx="5669280" cy="566928"/>
          </a:xfrm>
          <a:prstGeom prst="roundRect">
            <a:avLst>
              <a:gd name="adj" fmla="val 9677"/>
            </a:avLst>
          </a:prstGeom>
          <a:solidFill>
            <a:srgbClr val="1E293B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373368" y="3794760"/>
            <a:ext cx="1005840" cy="256032"/>
          </a:xfrm>
          <a:prstGeom prst="roundRect">
            <a:avLst>
              <a:gd name="adj" fmla="val 14286"/>
            </a:avLst>
          </a:prstGeom>
          <a:solidFill>
            <a:srgbClr val="3B82F6"/>
          </a:solidFill>
          <a:ln/>
        </p:spPr>
      </p:sp>
      <p:sp>
        <p:nvSpPr>
          <p:cNvPr id="52" name="Text 50"/>
          <p:cNvSpPr/>
          <p:nvPr/>
        </p:nvSpPr>
        <p:spPr>
          <a:xfrm>
            <a:off x="6373368" y="379476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7470648" y="3758184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Handbook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7470648" y="3986784"/>
            <a:ext cx="4297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https://www.typescriptlang.org/docs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Kealvi – Live Q&amp;A &amp; Polls Platform</dc:title>
  <dc:subject>Project Presentation</dc:subject>
  <dc:creator>Kealvi Team</dc:creator>
  <cp:lastModifiedBy>Kealvi Team</cp:lastModifiedBy>
  <cp:revision>1</cp:revision>
  <dcterms:created xsi:type="dcterms:W3CDTF">2026-09-12T17:23:35Z</dcterms:created>
  <dcterms:modified xsi:type="dcterms:W3CDTF">2026-09-12T17:23:35Z</dcterms:modified>
</cp:coreProperties>
</file>